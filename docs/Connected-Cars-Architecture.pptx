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35000" y="889000"/>
            <a:ext cx="3175000" cy="431800"/>
          </a:xfrm>
          <a:prstGeom prst="roundRect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250" b="true">
                <a:solidFill>
                  <a:srgbClr val="FFFFFF"/>
                </a:solidFill>
                <a:latin typeface="Calibri"/>
              </a:rPr>
              <a:t>TOYOTA  ·  CONNECTED CARS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2413000"/>
            <a:ext cx="10922000" cy="889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4600" b="true">
                <a:solidFill>
                  <a:srgbClr val="FFFFFF"/>
                </a:solidFill>
                <a:latin typeface="Calibri"/>
              </a:rPr>
              <a:t>Connected Cars Platform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35000" y="3403600"/>
            <a:ext cx="10922000" cy="508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2100" b="false">
                <a:solidFill>
                  <a:srgbClr val="CADCFC"/>
                </a:solidFill>
                <a:latin typeface="Calibri"/>
              </a:rPr>
              <a:t>Cloud-native vehicle telemetry on AWS — architecture overview</a:t>
            </a:r>
          </a:p>
        </p:txBody>
      </p:sp>
      <p:sp>
        <p:nvSpPr>
          <p:cNvPr name="AutoShape 5" id="5"/>
          <p:cNvSpPr/>
          <p:nvPr/>
        </p:nvSpPr>
        <p:spPr>
          <a:xfrm>
            <a:off x="635000" y="4381500"/>
            <a:ext cx="1922780" cy="406400"/>
          </a:xfrm>
          <a:prstGeom prst="roundRect">
            <a:avLst/>
          </a:prstGeom>
          <a:solidFill>
            <a:srgbClr val="2A3582"/>
          </a:solidFill>
          <a:ln w="12700">
            <a:solidFill>
              <a:srgbClr val="CADCFC"/>
            </a:solidFill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250" b="false">
                <a:solidFill>
                  <a:srgbClr val="CADCFC"/>
                </a:solidFill>
                <a:latin typeface="Calibri"/>
              </a:rPr>
              <a:t>Amazon EKS + Istio</a:t>
            </a:r>
          </a:p>
        </p:txBody>
      </p:sp>
      <p:sp>
        <p:nvSpPr>
          <p:cNvPr name="AutoShape 6" id="6"/>
          <p:cNvSpPr/>
          <p:nvPr/>
        </p:nvSpPr>
        <p:spPr>
          <a:xfrm>
            <a:off x="2735580" y="4381500"/>
            <a:ext cx="2479040" cy="406400"/>
          </a:xfrm>
          <a:prstGeom prst="roundRect">
            <a:avLst/>
          </a:prstGeom>
          <a:solidFill>
            <a:srgbClr val="2A3582"/>
          </a:solidFill>
          <a:ln w="12700">
            <a:solidFill>
              <a:srgbClr val="CADCFC"/>
            </a:solidFill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250" b="false">
                <a:solidFill>
                  <a:srgbClr val="CADCFC"/>
                </a:solidFill>
                <a:latin typeface="Calibri"/>
              </a:rPr>
              <a:t>Event-driven (Kafka/MSK)</a:t>
            </a:r>
          </a:p>
        </p:txBody>
      </p:sp>
      <p:sp>
        <p:nvSpPr>
          <p:cNvPr name="AutoShape 7" id="7"/>
          <p:cNvSpPr/>
          <p:nvPr/>
        </p:nvSpPr>
        <p:spPr>
          <a:xfrm>
            <a:off x="5392420" y="4381500"/>
            <a:ext cx="1644650" cy="406400"/>
          </a:xfrm>
          <a:prstGeom prst="roundRect">
            <a:avLst/>
          </a:prstGeom>
          <a:solidFill>
            <a:srgbClr val="2A3582"/>
          </a:solidFill>
          <a:ln w="12700">
            <a:solidFill>
              <a:srgbClr val="CADCFC"/>
            </a:solidFill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250" b="false">
                <a:solidFill>
                  <a:srgbClr val="CADCFC"/>
                </a:solidFill>
                <a:latin typeface="Calibri"/>
              </a:rPr>
              <a:t>Zero-trust mTLS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635000" y="6172200"/>
            <a:ext cx="10922000" cy="304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CADCFC"/>
                </a:solidFill>
                <a:latin typeface="Calibri"/>
              </a:rPr>
              <a:t>AWS Solution Architecture  ·  Interview Deck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35000" y="558800"/>
            <a:ext cx="381000" cy="381000"/>
          </a:xfrm>
          <a:prstGeom prst="ellipse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500" b="true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168400" y="584200"/>
            <a:ext cx="10287000" cy="508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2700" b="true">
                <a:solidFill>
                  <a:srgbClr val="1E2761"/>
                </a:solidFill>
                <a:latin typeface="Calibri"/>
              </a:rPr>
              <a:t>The Challenge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168400" y="1066800"/>
            <a:ext cx="102870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00" b="false">
                <a:solidFill>
                  <a:srgbClr val="646B7A"/>
                </a:solidFill>
                <a:latin typeface="Calibri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635000" y="1371600"/>
            <a:ext cx="7112000" cy="381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500" b="false">
                <a:solidFill>
                  <a:srgbClr val="22262E"/>
                </a:solidFill>
                <a:latin typeface="Calibri"/>
              </a:rPr>
              <a:t>Connected vehicles stream continuous telemetry at fleet scale. The platform must ingest it, act on it in real time, and expose it securely.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635000" y="2286000"/>
            <a:ext cx="7112000" cy="3810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indent="-177800" marL="177800">
              <a:buFont typeface="Arial"/>
              <a:buChar char="•"/>
            </a:pPr>
            <a:r>
              <a:rPr lang="en-US" sz="1500">
                <a:solidFill>
                  <a:srgbClr val="22262E"/>
                </a:solidFill>
                <a:latin typeface="Calibri"/>
              </a:rPr>
              <a:t>Ingest hundreds of thousands of messages/sec at peak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500">
                <a:solidFill>
                  <a:srgbClr val="22262E"/>
                </a:solidFill>
                <a:latin typeface="Calibri"/>
              </a:rPr>
              <a:t>Real-time alerts (crash, low battery, geofence, DTC) in &lt; 2s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500">
                <a:solidFill>
                  <a:srgbClr val="22262E"/>
                </a:solidFill>
                <a:latin typeface="Calibri"/>
              </a:rPr>
              <a:t>Secure APIs for mobile apps, dealers, and fleet operators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500">
                <a:solidFill>
                  <a:srgbClr val="22262E"/>
                </a:solidFill>
                <a:latin typeface="Calibri"/>
              </a:rPr>
              <a:t>Automotive compliance: PII, UNECE R155, ISO/SAE 21434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500">
                <a:solidFill>
                  <a:srgbClr val="22262E"/>
                </a:solidFill>
                <a:latin typeface="Calibri"/>
              </a:rPr>
              <a:t>99.95%+ availability, multi-AZ, regional DR</a:t>
            </a:r>
          </a:p>
        </p:txBody>
      </p:sp>
      <p:sp>
        <p:nvSpPr>
          <p:cNvPr name="AutoShape 7" id="7"/>
          <p:cNvSpPr/>
          <p:nvPr/>
        </p:nvSpPr>
        <p:spPr>
          <a:xfrm>
            <a:off x="8128000" y="1524000"/>
            <a:ext cx="3429000" cy="1371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name="TextBox 8" id="8"/>
          <p:cNvSpPr txBox="true"/>
          <p:nvPr/>
        </p:nvSpPr>
        <p:spPr>
          <a:xfrm>
            <a:off x="8356600" y="1752600"/>
            <a:ext cx="2971800" cy="7112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4000" b="true">
                <a:solidFill>
                  <a:srgbClr val="FFFFFF"/>
                </a:solidFill>
                <a:latin typeface="Calibri"/>
              </a:rPr>
              <a:t>~10M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8382000" y="2463800"/>
            <a:ext cx="2971800" cy="304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CADCFC"/>
                </a:solidFill>
                <a:latin typeface="Calibri"/>
              </a:rPr>
              <a:t>vehicles connected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128000" y="3098800"/>
            <a:ext cx="3429000" cy="1371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name="TextBox 11" id="11"/>
          <p:cNvSpPr txBox="true"/>
          <p:nvPr/>
        </p:nvSpPr>
        <p:spPr>
          <a:xfrm>
            <a:off x="8356600" y="3327400"/>
            <a:ext cx="2971800" cy="7112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4000" b="true">
                <a:solidFill>
                  <a:srgbClr val="FFFFFF"/>
                </a:solidFill>
                <a:latin typeface="Calibri"/>
              </a:rPr>
              <a:t>&lt; 2s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8382000" y="4038600"/>
            <a:ext cx="2971800" cy="304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CADCFC"/>
                </a:solidFill>
                <a:latin typeface="Calibri"/>
              </a:rPr>
              <a:t>alert latency (p99)</a:t>
            </a:r>
          </a:p>
        </p:txBody>
      </p:sp>
      <p:sp>
        <p:nvSpPr>
          <p:cNvPr name="AutoShape 13" id="13"/>
          <p:cNvSpPr/>
          <p:nvPr/>
        </p:nvSpPr>
        <p:spPr>
          <a:xfrm>
            <a:off x="8128000" y="4673600"/>
            <a:ext cx="3429000" cy="1371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name="TextBox 14" id="14"/>
          <p:cNvSpPr txBox="true"/>
          <p:nvPr/>
        </p:nvSpPr>
        <p:spPr>
          <a:xfrm>
            <a:off x="8356600" y="4902200"/>
            <a:ext cx="2971800" cy="7112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4000" b="true">
                <a:solidFill>
                  <a:srgbClr val="FFFFFF"/>
                </a:solidFill>
                <a:latin typeface="Calibri"/>
              </a:rPr>
              <a:t>99.95%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8382000" y="5613400"/>
            <a:ext cx="2971800" cy="304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CADCFC"/>
                </a:solidFill>
                <a:latin typeface="Calibri"/>
              </a:rPr>
              <a:t>target availability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35000" y="558800"/>
            <a:ext cx="381000" cy="381000"/>
          </a:xfrm>
          <a:prstGeom prst="ellipse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500" b="true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168400" y="584200"/>
            <a:ext cx="10287000" cy="508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2700" b="true">
                <a:solidFill>
                  <a:srgbClr val="1E2761"/>
                </a:solidFill>
                <a:latin typeface="Calibri"/>
              </a:rPr>
              <a:t>Reference Architecture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168400" y="1066800"/>
            <a:ext cx="102870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00" b="false">
                <a:solidFill>
                  <a:srgbClr val="646B7A"/>
                </a:solidFill>
                <a:latin typeface="Calibri"/>
              </a:rPr>
              <a:t/>
            </a:r>
          </a:p>
        </p:txBody>
      </p:sp>
      <p:sp>
        <p:nvSpPr>
          <p:cNvPr name="AutoShape 5" id="5"/>
          <p:cNvSpPr/>
          <p:nvPr/>
        </p:nvSpPr>
        <p:spPr>
          <a:xfrm>
            <a:off x="635000" y="1524000"/>
            <a:ext cx="19050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812800" y="1701800"/>
            <a:ext cx="16002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50" b="true">
                <a:solidFill>
                  <a:srgbClr val="EB0A1E"/>
                </a:solidFill>
                <a:latin typeface="Calibri"/>
              </a:rPr>
              <a:t>EDGE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812800" y="2082800"/>
            <a:ext cx="1600200" cy="3479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indent="-177800" marL="177800"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Vehicles (MQTT)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AWS IoT Core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Mobile / Dealer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CloudFront + WAF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ALB</a:t>
            </a:r>
          </a:p>
        </p:txBody>
      </p:sp>
      <p:sp>
        <p:nvSpPr>
          <p:cNvPr name="AutoShape 8" id="8"/>
          <p:cNvSpPr/>
          <p:nvPr/>
        </p:nvSpPr>
        <p:spPr>
          <a:xfrm>
            <a:off x="2921000" y="1524000"/>
            <a:ext cx="5969000" cy="419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</p:sp>
      <p:sp>
        <p:nvSpPr>
          <p:cNvPr name="TextBox 9" id="9"/>
          <p:cNvSpPr txBox="true"/>
          <p:nvPr/>
        </p:nvSpPr>
        <p:spPr>
          <a:xfrm>
            <a:off x="3124200" y="1676400"/>
            <a:ext cx="5588000" cy="2794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350" b="true">
                <a:solidFill>
                  <a:srgbClr val="1E2761"/>
                </a:solidFill>
                <a:latin typeface="Calibri"/>
              </a:rPr>
              <a:t>Amazon EKS  ·  Istio service mesh (STRICT mTLS)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124200" y="2108200"/>
            <a:ext cx="5562600" cy="508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3EC"/>
            </a:solidFill>
          </a:ln>
        </p:spPr>
      </p:sp>
      <p:sp>
        <p:nvSpPr>
          <p:cNvPr name="TextBox 11" id="11"/>
          <p:cNvSpPr txBox="true"/>
          <p:nvPr/>
        </p:nvSpPr>
        <p:spPr>
          <a:xfrm>
            <a:off x="3276600" y="2171700"/>
            <a:ext cx="53086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300" b="true">
                <a:solidFill>
                  <a:srgbClr val="1E2761"/>
                </a:solidFill>
                <a:latin typeface="Calibri"/>
              </a:rPr>
              <a:t>api-gateway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3276600" y="2400300"/>
            <a:ext cx="5308600" cy="2032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050" b="false">
                <a:solidFill>
                  <a:srgbClr val="646B7A"/>
                </a:solidFill>
                <a:latin typeface="Calibri"/>
              </a:rPr>
              <a:t>Spring Cloud Gateway · JWT validation</a:t>
            </a:r>
          </a:p>
        </p:txBody>
      </p:sp>
      <p:sp>
        <p:nvSpPr>
          <p:cNvPr name="AutoShape 13" id="13"/>
          <p:cNvSpPr/>
          <p:nvPr/>
        </p:nvSpPr>
        <p:spPr>
          <a:xfrm>
            <a:off x="3124200" y="2717800"/>
            <a:ext cx="2667000" cy="55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3EC"/>
            </a:solidFill>
          </a:ln>
        </p:spPr>
      </p:sp>
      <p:sp>
        <p:nvSpPr>
          <p:cNvPr name="TextBox 14" id="14"/>
          <p:cNvSpPr txBox="true"/>
          <p:nvPr/>
        </p:nvSpPr>
        <p:spPr>
          <a:xfrm>
            <a:off x="3276600" y="2781300"/>
            <a:ext cx="24130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300" b="true">
                <a:solidFill>
                  <a:srgbClr val="1E2761"/>
                </a:solidFill>
                <a:latin typeface="Calibri"/>
              </a:rPr>
              <a:t>auth-service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3276600" y="3009900"/>
            <a:ext cx="2413000" cy="2032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050" b="false">
                <a:solidFill>
                  <a:srgbClr val="646B7A"/>
                </a:solidFill>
                <a:latin typeface="Calibri"/>
              </a:rPr>
              <a:t>JWT issue / introspect</a:t>
            </a:r>
          </a:p>
        </p:txBody>
      </p:sp>
      <p:sp>
        <p:nvSpPr>
          <p:cNvPr name="AutoShape 16" id="16"/>
          <p:cNvSpPr/>
          <p:nvPr/>
        </p:nvSpPr>
        <p:spPr>
          <a:xfrm>
            <a:off x="6019800" y="2717800"/>
            <a:ext cx="2667000" cy="55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3EC"/>
            </a:solidFill>
          </a:ln>
        </p:spPr>
      </p:sp>
      <p:sp>
        <p:nvSpPr>
          <p:cNvPr name="TextBox 17" id="17"/>
          <p:cNvSpPr txBox="true"/>
          <p:nvPr/>
        </p:nvSpPr>
        <p:spPr>
          <a:xfrm>
            <a:off x="6172200" y="2781300"/>
            <a:ext cx="24130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300" b="true">
                <a:solidFill>
                  <a:srgbClr val="1E2761"/>
                </a:solidFill>
                <a:latin typeface="Calibri"/>
              </a:rPr>
              <a:t>telemetry-service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6172200" y="3009900"/>
            <a:ext cx="2413000" cy="2032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050" b="false">
                <a:solidFill>
                  <a:srgbClr val="646B7A"/>
                </a:solidFill>
                <a:latin typeface="Calibri"/>
              </a:rPr>
              <a:t>ingest → Kafka</a:t>
            </a:r>
          </a:p>
        </p:txBody>
      </p:sp>
      <p:sp>
        <p:nvSpPr>
          <p:cNvPr name="AutoShape 19" id="19"/>
          <p:cNvSpPr/>
          <p:nvPr/>
        </p:nvSpPr>
        <p:spPr>
          <a:xfrm>
            <a:off x="3124200" y="3378200"/>
            <a:ext cx="2667000" cy="55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3EC"/>
            </a:solidFill>
          </a:ln>
        </p:spPr>
      </p:sp>
      <p:sp>
        <p:nvSpPr>
          <p:cNvPr name="TextBox 20" id="20"/>
          <p:cNvSpPr txBox="true"/>
          <p:nvPr/>
        </p:nvSpPr>
        <p:spPr>
          <a:xfrm>
            <a:off x="3276600" y="3441700"/>
            <a:ext cx="24130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300" b="true">
                <a:solidFill>
                  <a:srgbClr val="1E2761"/>
                </a:solidFill>
                <a:latin typeface="Calibri"/>
              </a:rPr>
              <a:t>notification-service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3276600" y="3670300"/>
            <a:ext cx="2413000" cy="2032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050" b="false">
                <a:solidFill>
                  <a:srgbClr val="646B7A"/>
                </a:solidFill>
                <a:latin typeface="Calibri"/>
              </a:rPr>
              <a:t>Kafka consumer · alerts</a:t>
            </a:r>
          </a:p>
        </p:txBody>
      </p:sp>
      <p:sp>
        <p:nvSpPr>
          <p:cNvPr name="AutoShape 22" id="22"/>
          <p:cNvSpPr/>
          <p:nvPr/>
        </p:nvSpPr>
        <p:spPr>
          <a:xfrm>
            <a:off x="6019800" y="3378200"/>
            <a:ext cx="2667000" cy="55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3EC"/>
            </a:solidFill>
          </a:ln>
        </p:spPr>
      </p:sp>
      <p:sp>
        <p:nvSpPr>
          <p:cNvPr name="TextBox 23" id="23"/>
          <p:cNvSpPr txBox="true"/>
          <p:nvPr/>
        </p:nvSpPr>
        <p:spPr>
          <a:xfrm>
            <a:off x="6172200" y="3441700"/>
            <a:ext cx="24130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300" b="true">
                <a:solidFill>
                  <a:srgbClr val="1E2761"/>
                </a:solidFill>
                <a:latin typeface="Calibri"/>
              </a:rPr>
              <a:t>fleet-management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6172200" y="3670300"/>
            <a:ext cx="2413000" cy="2032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050" b="false">
                <a:solidFill>
                  <a:srgbClr val="646B7A"/>
                </a:solidFill>
                <a:latin typeface="Calibri"/>
              </a:rPr>
              <a:t>vehicle registry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3124200" y="4089400"/>
            <a:ext cx="5588000" cy="2286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150" b="false">
                <a:solidFill>
                  <a:srgbClr val="646B7A"/>
                </a:solidFill>
                <a:latin typeface="Calibri"/>
              </a:rPr>
              <a:t>Envoy sidecar per pod · SPIFFE identity · AuthorizationPolicy</a:t>
            </a:r>
          </a:p>
        </p:txBody>
      </p:sp>
      <p:sp>
        <p:nvSpPr>
          <p:cNvPr name="AutoShape 26" id="26"/>
          <p:cNvSpPr/>
          <p:nvPr/>
        </p:nvSpPr>
        <p:spPr>
          <a:xfrm>
            <a:off x="3124200" y="4419600"/>
            <a:ext cx="5562600" cy="508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3EC"/>
            </a:solidFill>
          </a:ln>
        </p:spPr>
      </p:sp>
      <p:sp>
        <p:nvSpPr>
          <p:cNvPr name="TextBox 27" id="27"/>
          <p:cNvSpPr txBox="true"/>
          <p:nvPr/>
        </p:nvSpPr>
        <p:spPr>
          <a:xfrm>
            <a:off x="3276600" y="4483100"/>
            <a:ext cx="53086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300" b="true">
                <a:solidFill>
                  <a:srgbClr val="1E2761"/>
                </a:solidFill>
                <a:latin typeface="Calibri"/>
              </a:rPr>
              <a:t>Observability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3276600" y="4711700"/>
            <a:ext cx="5308600" cy="2032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050" b="false">
                <a:solidFill>
                  <a:srgbClr val="646B7A"/>
                </a:solidFill>
                <a:latin typeface="Calibri"/>
              </a:rPr>
              <a:t>Prometheus · Grafana · Jaeger · Kiali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3124200" y="5080000"/>
            <a:ext cx="5588000" cy="508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00" b="true">
                <a:solidFill>
                  <a:srgbClr val="1C7293"/>
                </a:solidFill>
                <a:latin typeface="Calibri"/>
              </a:rPr>
              <a:t>IRSA gives pods scoped AWS access with no static keys.</a:t>
            </a:r>
          </a:p>
        </p:txBody>
      </p:sp>
      <p:sp>
        <p:nvSpPr>
          <p:cNvPr name="AutoShape 30" id="30"/>
          <p:cNvSpPr/>
          <p:nvPr/>
        </p:nvSpPr>
        <p:spPr>
          <a:xfrm>
            <a:off x="9271000" y="1524000"/>
            <a:ext cx="22860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</p:spPr>
      </p:sp>
      <p:sp>
        <p:nvSpPr>
          <p:cNvPr name="TextBox 31" id="31"/>
          <p:cNvSpPr txBox="true"/>
          <p:nvPr/>
        </p:nvSpPr>
        <p:spPr>
          <a:xfrm>
            <a:off x="9448800" y="1701800"/>
            <a:ext cx="19812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50" b="true">
                <a:solidFill>
                  <a:srgbClr val="EB0A1E"/>
                </a:solidFill>
                <a:latin typeface="Calibri"/>
              </a:rPr>
              <a:t>DATA &amp; MESSAGING</a:t>
            </a:r>
          </a:p>
        </p:txBody>
      </p:sp>
      <p:sp>
        <p:nvSpPr>
          <p:cNvPr name="TextBox 32" id="32"/>
          <p:cNvSpPr txBox="true"/>
          <p:nvPr/>
        </p:nvSpPr>
        <p:spPr>
          <a:xfrm>
            <a:off x="9448800" y="2082800"/>
            <a:ext cx="1981200" cy="3479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indent="-177800" marL="177800"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Amazon MSK (Kafka)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RDS PostgreSQL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Timestream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ElastiCache Redis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S3 (data lake)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SNS / SES / Pinpoint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35000" y="558800"/>
            <a:ext cx="381000" cy="381000"/>
          </a:xfrm>
          <a:prstGeom prst="ellipse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500" b="true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168400" y="584200"/>
            <a:ext cx="10287000" cy="508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2700" b="true">
                <a:solidFill>
                  <a:srgbClr val="1E2761"/>
                </a:solidFill>
                <a:latin typeface="Calibri"/>
              </a:rPr>
              <a:t>Microservices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168400" y="1066800"/>
            <a:ext cx="102870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00" b="false">
                <a:solidFill>
                  <a:srgbClr val="646B7A"/>
                </a:solidFill>
                <a:latin typeface="Calibri"/>
              </a:rPr>
              <a:t/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35000" y="1524000"/>
          <a:ext cx="0" cy="0"/>
        </p:xfrm>
        <a:graphic>
          <a:graphicData uri="http://schemas.openxmlformats.org/drawingml/2006/table">
            <a:tbl>
              <a:tblPr/>
              <a:tblGrid>
                <a:gridCol w="2921000"/>
                <a:gridCol w="5461000"/>
                <a:gridCol w="2540000"/>
              </a:tblGrid>
              <a:tr h="677333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300" b="true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300" b="true">
                          <a:solidFill>
                            <a:srgbClr val="FFFFFF"/>
                          </a:solidFill>
                          <a:latin typeface="Calibri"/>
                        </a:rPr>
                        <a:t>Responsibility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300" b="true">
                          <a:solidFill>
                            <a:srgbClr val="FFFFFF"/>
                          </a:solidFill>
                          <a:latin typeface="Calibri"/>
                        </a:rPr>
                        <a:t>Key tech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77333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true">
                          <a:solidFill>
                            <a:srgbClr val="22262E"/>
                          </a:solidFill>
                          <a:latin typeface="Calibri"/>
                        </a:rPr>
                        <a:t>api-gateway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Edge routing, JWT validation, rate limiting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Spring Cloud Gateway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7333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true">
                          <a:solidFill>
                            <a:srgbClr val="22262E"/>
                          </a:solidFill>
                          <a:latin typeface="Calibri"/>
                        </a:rPr>
                        <a:t>auth-service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Issues / introspects JWTs; user &amp; device identity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Spring Security, JWT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77333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true">
                          <a:solidFill>
                            <a:srgbClr val="22262E"/>
                          </a:solidFill>
                          <a:latin typeface="Calibri"/>
                        </a:rPr>
                        <a:t>vehicle-telemetry-service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Ingest telemetry, persist, publish to Kafka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Spring Kafka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7333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true">
                          <a:solidFill>
                            <a:srgbClr val="22262E"/>
                          </a:solidFill>
                          <a:latin typeface="Calibri"/>
                        </a:rPr>
                        <a:t>notification-service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Consume events, evaluate rules, dispatch alerts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Kafka consumer, Redis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77333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true">
                          <a:solidFill>
                            <a:srgbClr val="22262E"/>
                          </a:solidFill>
                          <a:latin typeface="Calibri"/>
                        </a:rPr>
                        <a:t>fleet-management-service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Vehicle registration &amp; inventory APIs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Spring Data JPA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>
            <a:off x="635000" y="5969000"/>
            <a:ext cx="10922000" cy="304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300" b="true">
                <a:solidFill>
                  <a:srgbClr val="1C7293"/>
                </a:solidFill>
                <a:latin typeface="Calibri"/>
              </a:rPr>
              <a:t>Independent scaling (telemetry → up to 20 pods; auth stays at 2), independent deploys, fault isolation.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35000" y="558800"/>
            <a:ext cx="381000" cy="381000"/>
          </a:xfrm>
          <a:prstGeom prst="ellipse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500" b="true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168400" y="584200"/>
            <a:ext cx="10287000" cy="508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2700" b="true">
                <a:solidFill>
                  <a:srgbClr val="1E2761"/>
                </a:solidFill>
                <a:latin typeface="Calibri"/>
              </a:rPr>
              <a:t>Telemetry Data Flow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168400" y="1066800"/>
            <a:ext cx="102870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00" b="false">
                <a:solidFill>
                  <a:srgbClr val="646B7A"/>
                </a:solidFill>
                <a:latin typeface="Calibri"/>
              </a:rPr>
              <a:t/>
            </a:r>
          </a:p>
        </p:txBody>
      </p:sp>
      <p:sp>
        <p:nvSpPr>
          <p:cNvPr name="AutoShape 5" id="5"/>
          <p:cNvSpPr/>
          <p:nvPr/>
        </p:nvSpPr>
        <p:spPr>
          <a:xfrm>
            <a:off x="635000" y="1905000"/>
            <a:ext cx="1905000" cy="939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name="TextBox 6" id="6"/>
          <p:cNvSpPr txBox="true"/>
          <p:nvPr/>
        </p:nvSpPr>
        <p:spPr>
          <a:xfrm>
            <a:off x="762000" y="2108200"/>
            <a:ext cx="1676400" cy="304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sz="1350" b="true">
                <a:solidFill>
                  <a:srgbClr val="FFFFFF"/>
                </a:solidFill>
                <a:latin typeface="Calibri"/>
              </a:rPr>
              <a:t>Vehicle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2463800"/>
            <a:ext cx="1676400" cy="2286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sz="1100" b="false">
                <a:solidFill>
                  <a:srgbClr val="CADCFC"/>
                </a:solidFill>
                <a:latin typeface="Calibri"/>
              </a:rPr>
              <a:t>MQTT / HTTPS</a:t>
            </a:r>
          </a:p>
        </p:txBody>
      </p:sp>
      <p:sp>
        <p:nvSpPr>
          <p:cNvPr name="AutoShape 8" id="8"/>
          <p:cNvSpPr/>
          <p:nvPr/>
        </p:nvSpPr>
        <p:spPr>
          <a:xfrm>
            <a:off x="2603500" y="2260600"/>
            <a:ext cx="254000" cy="228600"/>
          </a:xfrm>
          <a:prstGeom prst="rightArrow">
            <a:avLst/>
          </a:prstGeom>
          <a:solidFill>
            <a:srgbClr val="EB0A1E"/>
          </a:solidFill>
          <a:ln>
            <a:noFill/>
          </a:ln>
        </p:spPr>
      </p:sp>
      <p:sp>
        <p:nvSpPr>
          <p:cNvPr name="AutoShape 9" id="9"/>
          <p:cNvSpPr/>
          <p:nvPr/>
        </p:nvSpPr>
        <p:spPr>
          <a:xfrm>
            <a:off x="2895600" y="1905000"/>
            <a:ext cx="1905000" cy="939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name="TextBox 10" id="10"/>
          <p:cNvSpPr txBox="true"/>
          <p:nvPr/>
        </p:nvSpPr>
        <p:spPr>
          <a:xfrm>
            <a:off x="3022600" y="2108200"/>
            <a:ext cx="1676400" cy="304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sz="1350" b="true">
                <a:solidFill>
                  <a:srgbClr val="FFFFFF"/>
                </a:solidFill>
                <a:latin typeface="Calibri"/>
              </a:rPr>
              <a:t>telemetry-service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3022600" y="2463800"/>
            <a:ext cx="1676400" cy="2286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sz="1100" b="false">
                <a:solidFill>
                  <a:srgbClr val="CADCFC"/>
                </a:solidFill>
                <a:latin typeface="Calibri"/>
              </a:rPr>
              <a:t>persist + publish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864100" y="2260600"/>
            <a:ext cx="254000" cy="228600"/>
          </a:xfrm>
          <a:prstGeom prst="rightArrow">
            <a:avLst/>
          </a:prstGeom>
          <a:solidFill>
            <a:srgbClr val="EB0A1E"/>
          </a:solidFill>
          <a:ln>
            <a:noFill/>
          </a:ln>
        </p:spPr>
      </p:sp>
      <p:sp>
        <p:nvSpPr>
          <p:cNvPr name="AutoShape 13" id="13"/>
          <p:cNvSpPr/>
          <p:nvPr/>
        </p:nvSpPr>
        <p:spPr>
          <a:xfrm>
            <a:off x="5156200" y="1905000"/>
            <a:ext cx="1905000" cy="939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name="TextBox 14" id="14"/>
          <p:cNvSpPr txBox="true"/>
          <p:nvPr/>
        </p:nvSpPr>
        <p:spPr>
          <a:xfrm>
            <a:off x="5283200" y="2108200"/>
            <a:ext cx="1676400" cy="304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sz="1350" b="true">
                <a:solidFill>
                  <a:srgbClr val="FFFFFF"/>
                </a:solidFill>
                <a:latin typeface="Calibri"/>
              </a:rPr>
              <a:t>MSK / Kafka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5283200" y="2463800"/>
            <a:ext cx="1676400" cy="2286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sz="1100" b="false">
                <a:solidFill>
                  <a:srgbClr val="CADCFC"/>
                </a:solidFill>
                <a:latin typeface="Calibri"/>
              </a:rPr>
              <a:t>keyed by VIN</a:t>
            </a:r>
          </a:p>
        </p:txBody>
      </p:sp>
      <p:sp>
        <p:nvSpPr>
          <p:cNvPr name="AutoShape 16" id="16"/>
          <p:cNvSpPr/>
          <p:nvPr/>
        </p:nvSpPr>
        <p:spPr>
          <a:xfrm>
            <a:off x="7124700" y="2260600"/>
            <a:ext cx="254000" cy="228600"/>
          </a:xfrm>
          <a:prstGeom prst="rightArrow">
            <a:avLst/>
          </a:prstGeom>
          <a:solidFill>
            <a:srgbClr val="EB0A1E"/>
          </a:solidFill>
          <a:ln>
            <a:noFill/>
          </a:ln>
        </p:spPr>
      </p:sp>
      <p:sp>
        <p:nvSpPr>
          <p:cNvPr name="AutoShape 17" id="17"/>
          <p:cNvSpPr/>
          <p:nvPr/>
        </p:nvSpPr>
        <p:spPr>
          <a:xfrm>
            <a:off x="7416800" y="1905000"/>
            <a:ext cx="1905000" cy="939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name="TextBox 18" id="18"/>
          <p:cNvSpPr txBox="true"/>
          <p:nvPr/>
        </p:nvSpPr>
        <p:spPr>
          <a:xfrm>
            <a:off x="7543800" y="2108200"/>
            <a:ext cx="1676400" cy="304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sz="1350" b="true">
                <a:solidFill>
                  <a:srgbClr val="FFFFFF"/>
                </a:solidFill>
                <a:latin typeface="Calibri"/>
              </a:rPr>
              <a:t>notification-service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7543800" y="2463800"/>
            <a:ext cx="1676400" cy="2286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sz="1100" b="false">
                <a:solidFill>
                  <a:srgbClr val="CADCFC"/>
                </a:solidFill>
                <a:latin typeface="Calibri"/>
              </a:rPr>
              <a:t>rule evaluation</a:t>
            </a:r>
          </a:p>
        </p:txBody>
      </p:sp>
      <p:sp>
        <p:nvSpPr>
          <p:cNvPr name="AutoShape 20" id="20"/>
          <p:cNvSpPr/>
          <p:nvPr/>
        </p:nvSpPr>
        <p:spPr>
          <a:xfrm>
            <a:off x="9385300" y="2260600"/>
            <a:ext cx="254000" cy="228600"/>
          </a:xfrm>
          <a:prstGeom prst="rightArrow">
            <a:avLst/>
          </a:prstGeom>
          <a:solidFill>
            <a:srgbClr val="EB0A1E"/>
          </a:solidFill>
          <a:ln>
            <a:noFill/>
          </a:ln>
        </p:spPr>
      </p:sp>
      <p:sp>
        <p:nvSpPr>
          <p:cNvPr name="AutoShape 21" id="21"/>
          <p:cNvSpPr/>
          <p:nvPr/>
        </p:nvSpPr>
        <p:spPr>
          <a:xfrm>
            <a:off x="9677400" y="1905000"/>
            <a:ext cx="1905000" cy="939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name="TextBox 22" id="22"/>
          <p:cNvSpPr txBox="true"/>
          <p:nvPr/>
        </p:nvSpPr>
        <p:spPr>
          <a:xfrm>
            <a:off x="9804400" y="2108200"/>
            <a:ext cx="1676400" cy="304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sz="1350" b="true">
                <a:solidFill>
                  <a:srgbClr val="FFFFFF"/>
                </a:solidFill>
                <a:latin typeface="Calibri"/>
              </a:rPr>
              <a:t>SNS / Pinpoint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9804400" y="2463800"/>
            <a:ext cx="1676400" cy="2286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sz="1100" b="false">
                <a:solidFill>
                  <a:srgbClr val="CADCFC"/>
                </a:solidFill>
                <a:latin typeface="Calibri"/>
              </a:rPr>
              <a:t>driver alert</a:t>
            </a:r>
          </a:p>
        </p:txBody>
      </p:sp>
      <p:sp>
        <p:nvSpPr>
          <p:cNvPr name="AutoShape 24" id="24"/>
          <p:cNvSpPr/>
          <p:nvPr/>
        </p:nvSpPr>
        <p:spPr>
          <a:xfrm>
            <a:off x="635000" y="3683000"/>
            <a:ext cx="5334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</p:spPr>
      </p:sp>
      <p:sp>
        <p:nvSpPr>
          <p:cNvPr name="TextBox 25" id="25"/>
          <p:cNvSpPr txBox="true"/>
          <p:nvPr/>
        </p:nvSpPr>
        <p:spPr>
          <a:xfrm>
            <a:off x="838200" y="3860800"/>
            <a:ext cx="4953000" cy="2794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500" b="true">
                <a:solidFill>
                  <a:srgbClr val="EB0A1E"/>
                </a:solidFill>
                <a:latin typeface="Calibri"/>
              </a:rPr>
              <a:t>Why Kafka in the middle?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838200" y="4241800"/>
            <a:ext cx="4953000" cy="1193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indent="-177800" marL="177800"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Decouples ingest from processing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Absorbs 10x spikes as a durable buffer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Ordered per-VIN via partition key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Consumers scale on lag (KEDA)</a:t>
            </a:r>
          </a:p>
        </p:txBody>
      </p:sp>
      <p:sp>
        <p:nvSpPr>
          <p:cNvPr name="AutoShape 27" id="27"/>
          <p:cNvSpPr/>
          <p:nvPr/>
        </p:nvSpPr>
        <p:spPr>
          <a:xfrm>
            <a:off x="6248400" y="3683000"/>
            <a:ext cx="5334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</p:spPr>
      </p:sp>
      <p:sp>
        <p:nvSpPr>
          <p:cNvPr name="TextBox 28" id="28"/>
          <p:cNvSpPr txBox="true"/>
          <p:nvPr/>
        </p:nvSpPr>
        <p:spPr>
          <a:xfrm>
            <a:off x="6451600" y="3860800"/>
            <a:ext cx="4953000" cy="2794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500" b="true">
                <a:solidFill>
                  <a:srgbClr val="EB0A1E"/>
                </a:solidFill>
                <a:latin typeface="Calibri"/>
              </a:rPr>
              <a:t>Purpose-built stores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6451600" y="4241800"/>
            <a:ext cx="4953000" cy="1193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indent="-177800" marL="177800"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Timestream — telemetry time-series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RDS PostgreSQL — identity / registration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ElastiCache Redis — dedup, rate limits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S3 — cold telemetry &amp; analytics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35000" y="558800"/>
            <a:ext cx="381000" cy="381000"/>
          </a:xfrm>
          <a:prstGeom prst="ellipse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500" b="true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168400" y="584200"/>
            <a:ext cx="10287000" cy="508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2700" b="true">
                <a:solidFill>
                  <a:srgbClr val="FFFFFF"/>
                </a:solidFill>
                <a:latin typeface="Calibri"/>
              </a:rPr>
              <a:t>Service-to-Service Security: Istio mTLS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35000" y="1524000"/>
            <a:ext cx="6350000" cy="406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indent="-177800" marL="177800">
              <a:buFont typeface="Arial"/>
              <a:buChar char="•"/>
            </a:pPr>
            <a:r>
              <a:rPr lang="en-US" sz="1500">
                <a:solidFill>
                  <a:srgbClr val="CADCFC"/>
                </a:solidFill>
                <a:latin typeface="Calibri"/>
              </a:rPr>
              <a:t>Every pod runs an Envoy sidecar — no app code changes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500">
                <a:solidFill>
                  <a:srgbClr val="CADCFC"/>
                </a:solidFill>
                <a:latin typeface="Calibri"/>
              </a:rPr>
              <a:t>istiod is the CA: issues short-lived SPIFFE X.509 certs, auto-rotated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500">
                <a:solidFill>
                  <a:srgbClr val="CADCFC"/>
                </a:solidFill>
                <a:latin typeface="Calibri"/>
              </a:rPr>
              <a:t>STRICT mTLS mesh-wide → all east-west traffic encrypted + mutually authenticated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500">
                <a:solidFill>
                  <a:srgbClr val="CADCFC"/>
                </a:solidFill>
                <a:latin typeface="Calibri"/>
              </a:rPr>
              <a:t>Workload identity derived from the Kubernetes ServiceAccount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500">
                <a:solidFill>
                  <a:srgbClr val="CADCFC"/>
                </a:solidFill>
                <a:latin typeface="Calibri"/>
              </a:rPr>
              <a:t>Apps still speak plain HTTP to localhost; sidecars upgrade to mTLS</a:t>
            </a:r>
          </a:p>
        </p:txBody>
      </p:sp>
      <p:sp>
        <p:nvSpPr>
          <p:cNvPr name="AutoShape 5" id="5"/>
          <p:cNvSpPr/>
          <p:nvPr/>
        </p:nvSpPr>
        <p:spPr>
          <a:xfrm>
            <a:off x="7493000" y="1905000"/>
            <a:ext cx="1905000" cy="1524000"/>
          </a:xfrm>
          <a:prstGeom prst="roundRect">
            <a:avLst/>
          </a:prstGeom>
          <a:solidFill>
            <a:srgbClr val="2A3582"/>
          </a:solidFill>
          <a:ln w="12700">
            <a:solidFill>
              <a:srgbClr val="CADCFC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7493000" y="2159000"/>
            <a:ext cx="19050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sz="1300" b="true">
                <a:solidFill>
                  <a:srgbClr val="FFFFFF"/>
                </a:solidFill>
                <a:latin typeface="Calibri"/>
              </a:rPr>
              <a:t>auth-service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493000" y="2489200"/>
            <a:ext cx="1905000" cy="2286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sz="1100" b="false">
                <a:solidFill>
                  <a:srgbClr val="CADCFC"/>
                </a:solidFill>
                <a:latin typeface="Calibri"/>
              </a:rPr>
              <a:t>app + Envoy</a:t>
            </a:r>
          </a:p>
        </p:txBody>
      </p:sp>
      <p:sp>
        <p:nvSpPr>
          <p:cNvPr name="AutoShape 8" id="8"/>
          <p:cNvSpPr/>
          <p:nvPr/>
        </p:nvSpPr>
        <p:spPr>
          <a:xfrm>
            <a:off x="9779000" y="1905000"/>
            <a:ext cx="1905000" cy="1524000"/>
          </a:xfrm>
          <a:prstGeom prst="roundRect">
            <a:avLst/>
          </a:prstGeom>
          <a:solidFill>
            <a:srgbClr val="2A3582"/>
          </a:solidFill>
          <a:ln w="12700">
            <a:solidFill>
              <a:srgbClr val="CADCFC"/>
            </a:solidFill>
          </a:ln>
        </p:spPr>
      </p:sp>
      <p:sp>
        <p:nvSpPr>
          <p:cNvPr name="TextBox 9" id="9"/>
          <p:cNvSpPr txBox="true"/>
          <p:nvPr/>
        </p:nvSpPr>
        <p:spPr>
          <a:xfrm>
            <a:off x="9779000" y="2159000"/>
            <a:ext cx="19050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sz="1300" b="true">
                <a:solidFill>
                  <a:srgbClr val="FFFFFF"/>
                </a:solidFill>
                <a:latin typeface="Calibri"/>
              </a:rPr>
              <a:t>fleet-service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9779000" y="2489200"/>
            <a:ext cx="1905000" cy="2286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sz="1100" b="false">
                <a:solidFill>
                  <a:srgbClr val="CADCFC"/>
                </a:solidFill>
                <a:latin typeface="Calibri"/>
              </a:rPr>
              <a:t>app + Envoy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182100" y="2438400"/>
            <a:ext cx="558800" cy="457200"/>
          </a:xfrm>
          <a:prstGeom prst="roundRect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100" b="true">
                <a:solidFill>
                  <a:srgbClr val="FFFFFF"/>
                </a:solidFill>
                <a:latin typeface="Calibri"/>
              </a:rPr>
              <a:t>mTLS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9461500" y="2552700"/>
            <a:ext cx="254000" cy="228600"/>
          </a:xfrm>
          <a:prstGeom prst="rightArrow">
            <a:avLst/>
          </a:prstGeom>
          <a:solidFill>
            <a:srgbClr val="EB0A1E"/>
          </a:solidFill>
          <a:ln>
            <a:noFill/>
          </a:ln>
        </p:spPr>
      </p:sp>
      <p:sp>
        <p:nvSpPr>
          <p:cNvPr name="TextBox 13" id="13"/>
          <p:cNvSpPr txBox="true"/>
          <p:nvPr/>
        </p:nvSpPr>
        <p:spPr>
          <a:xfrm>
            <a:off x="7493000" y="3810000"/>
            <a:ext cx="4191000" cy="152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00" b="false">
                <a:solidFill>
                  <a:srgbClr val="CADCFC"/>
                </a:solidFill>
                <a:latin typeface="Calibri"/>
              </a:rPr>
              <a:t>spiffe://cluster.local/ns/connected-cars/sa/api-gateway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7493000" y="4191000"/>
            <a:ext cx="4191000" cy="1143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50" b="true">
                <a:solidFill>
                  <a:srgbClr val="FFFFFF"/>
                </a:solidFill>
                <a:latin typeface="Calibri"/>
              </a:rPr>
              <a:t>→ this identity is what AuthorizationPolicy references as a principal.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35000" y="558800"/>
            <a:ext cx="381000" cy="381000"/>
          </a:xfrm>
          <a:prstGeom prst="ellipse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500" b="true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168400" y="584200"/>
            <a:ext cx="10287000" cy="508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2700" b="true">
                <a:solidFill>
                  <a:srgbClr val="1E2761"/>
                </a:solidFill>
                <a:latin typeface="Calibri"/>
              </a:rPr>
              <a:t>Authorization: Two Planes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168400" y="1066800"/>
            <a:ext cx="102870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00" b="false">
                <a:solidFill>
                  <a:srgbClr val="646B7A"/>
                </a:solidFill>
                <a:latin typeface="Calibri"/>
              </a:rPr>
              <a:t/>
            </a:r>
          </a:p>
        </p:txBody>
      </p:sp>
      <p:sp>
        <p:nvSpPr>
          <p:cNvPr name="AutoShape 5" id="5"/>
          <p:cNvSpPr/>
          <p:nvPr/>
        </p:nvSpPr>
        <p:spPr>
          <a:xfrm>
            <a:off x="635000" y="1549400"/>
            <a:ext cx="52705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863600" y="1752600"/>
            <a:ext cx="4826000" cy="304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600" b="true">
                <a:solidFill>
                  <a:srgbClr val="1E2761"/>
                </a:solidFill>
                <a:latin typeface="Calibri"/>
              </a:rPr>
              <a:t>Control plane — Kubernetes RBAC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863600" y="2133600"/>
            <a:ext cx="48260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50" b="true">
                <a:solidFill>
                  <a:srgbClr val="EB0A1E"/>
                </a:solidFill>
                <a:latin typeface="Calibri"/>
              </a:rPr>
              <a:t>Who may act on the Kubernetes API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863600" y="2514600"/>
            <a:ext cx="4826000" cy="3048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indent="-177800" marL="177800">
              <a:buFont typeface="Arial"/>
              <a:buChar char="•"/>
            </a:pPr>
            <a:r>
              <a:rPr lang="en-US" sz="1350">
                <a:solidFill>
                  <a:srgbClr val="22262E"/>
                </a:solidFill>
                <a:latin typeface="Calibri"/>
              </a:rPr>
              <a:t>Role / ClusterRole + RoleBindings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50">
                <a:solidFill>
                  <a:srgbClr val="22262E"/>
                </a:solidFill>
                <a:latin typeface="Calibri"/>
              </a:rPr>
              <a:t>Subjects: Users, Groups, ServiceAccounts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50">
                <a:solidFill>
                  <a:srgbClr val="22262E"/>
                </a:solidFill>
                <a:latin typeface="Calibri"/>
              </a:rPr>
              <a:t>EKS maps AWS IAM → K8s groups (Access Entries)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50">
                <a:solidFill>
                  <a:srgbClr val="22262E"/>
                </a:solidFill>
                <a:latin typeface="Calibri"/>
              </a:rPr>
              <a:t>Additive, default-deny — no explicit deny rules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50">
                <a:solidFill>
                  <a:srgbClr val="22262E"/>
                </a:solidFill>
                <a:latin typeface="Calibri"/>
              </a:rPr>
              <a:t>Pods reach AWS via IRSA (no static keys)</a:t>
            </a:r>
          </a:p>
        </p:txBody>
      </p:sp>
      <p:sp>
        <p:nvSpPr>
          <p:cNvPr name="AutoShape 9" id="9"/>
          <p:cNvSpPr/>
          <p:nvPr/>
        </p:nvSpPr>
        <p:spPr>
          <a:xfrm>
            <a:off x="6286500" y="1549400"/>
            <a:ext cx="52705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</p:spPr>
      </p:sp>
      <p:sp>
        <p:nvSpPr>
          <p:cNvPr name="TextBox 10" id="10"/>
          <p:cNvSpPr txBox="true"/>
          <p:nvPr/>
        </p:nvSpPr>
        <p:spPr>
          <a:xfrm>
            <a:off x="6515100" y="1752600"/>
            <a:ext cx="4826000" cy="304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600" b="true">
                <a:solidFill>
                  <a:srgbClr val="1E2761"/>
                </a:solidFill>
                <a:latin typeface="Calibri"/>
              </a:rPr>
              <a:t>Data plane — Istio AuthorizationPolicy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6515100" y="2133600"/>
            <a:ext cx="48260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50" b="true">
                <a:solidFill>
                  <a:srgbClr val="EB0A1E"/>
                </a:solidFill>
                <a:latin typeface="Calibri"/>
              </a:rPr>
              <a:t>Which service/user may send app traffic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6515100" y="2514600"/>
            <a:ext cx="4826000" cy="3048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indent="-177800" marL="177800">
              <a:buFont typeface="Arial"/>
              <a:buChar char="•"/>
            </a:pPr>
            <a:r>
              <a:rPr lang="en-US" sz="1350">
                <a:solidFill>
                  <a:srgbClr val="22262E"/>
                </a:solidFill>
                <a:latin typeface="Calibri"/>
              </a:rPr>
              <a:t>Enforced by Envoy: CUSTOM → DENY → ALLOW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50">
                <a:solidFill>
                  <a:srgbClr val="22262E"/>
                </a:solidFill>
                <a:latin typeface="Calibri"/>
              </a:rPr>
              <a:t>principals = calling service (mTLS/SPIFFE)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50">
                <a:solidFill>
                  <a:srgbClr val="22262E"/>
                </a:solidFill>
                <a:latin typeface="Calibri"/>
              </a:rPr>
              <a:t>requestPrincipals = end-user (valid JWT)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50">
                <a:solidFill>
                  <a:srgbClr val="22262E"/>
                </a:solidFill>
                <a:latin typeface="Calibri"/>
              </a:rPr>
              <a:t>when: request.auth.claims[roles] = fine-grained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50">
                <a:solidFill>
                  <a:srgbClr val="22262E"/>
                </a:solidFill>
                <a:latin typeface="Calibri"/>
              </a:rPr>
              <a:t>Namespace default-deny for zero trust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635000" y="5918200"/>
            <a:ext cx="10922000" cy="2794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50" b="true">
                <a:solidFill>
                  <a:srgbClr val="1C7293"/>
                </a:solidFill>
                <a:latin typeface="Calibri"/>
              </a:rPr>
              <a:t>RBAC governs the API server; AuthorizationPolicy governs east-west application traffic. Different planes.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35000" y="558800"/>
            <a:ext cx="381000" cy="381000"/>
          </a:xfrm>
          <a:prstGeom prst="ellipse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500" b="true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168400" y="584200"/>
            <a:ext cx="10287000" cy="508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2700" b="true">
                <a:solidFill>
                  <a:srgbClr val="1E2761"/>
                </a:solidFill>
                <a:latin typeface="Calibri"/>
              </a:rPr>
              <a:t>AuthorizationPolicy in Action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168400" y="1066800"/>
            <a:ext cx="102870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00" b="false">
                <a:solidFill>
                  <a:srgbClr val="646B7A"/>
                </a:solidFill>
                <a:latin typeface="Calibri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635000" y="1371600"/>
            <a:ext cx="10922000" cy="304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22262E"/>
                </a:solidFill>
                <a:latin typeface="Calibri"/>
              </a:rPr>
              <a:t>Fleet writes require the api-gateway identity AND a fleet-admin JWT role:</a:t>
            </a:r>
          </a:p>
        </p:txBody>
      </p:sp>
      <p:sp>
        <p:nvSpPr>
          <p:cNvPr name="AutoShape 6" id="6"/>
          <p:cNvSpPr/>
          <p:nvPr/>
        </p:nvSpPr>
        <p:spPr>
          <a:xfrm>
            <a:off x="635000" y="1803400"/>
            <a:ext cx="6858000" cy="3810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anchor="t" lIns="177800" tIns="152400"/>
          <a:p>
            <a:r>
              <a:rPr lang="en-US"/>
              <a:t/>
            </a:r>
          </a:p>
          <a:p>
            <a:r>
              <a:rPr lang="en-US" sz="1250">
                <a:solidFill>
                  <a:srgbClr val="CADCFC"/>
                </a:solidFill>
                <a:latin typeface="Consolas"/>
              </a:rPr>
              <a:t>action: ALLOW</a:t>
            </a:r>
          </a:p>
          <a:p>
            <a:r>
              <a:rPr lang="en-US" sz="1250">
                <a:solidFill>
                  <a:srgbClr val="CADCFC"/>
                </a:solidFill>
                <a:latin typeface="Consolas"/>
              </a:rPr>
              <a:t>rules:</a:t>
            </a:r>
          </a:p>
          <a:p>
            <a:r>
              <a:rPr lang="en-US" sz="1250">
                <a:solidFill>
                  <a:srgbClr val="CADCFC"/>
                </a:solidFill>
                <a:latin typeface="Consolas"/>
              </a:rPr>
              <a:t>- from:</a:t>
            </a:r>
          </a:p>
          <a:p>
            <a:r>
              <a:rPr lang="en-US" sz="1250">
                <a:solidFill>
                  <a:srgbClr val="CADCFC"/>
                </a:solidFill>
                <a:latin typeface="Consolas"/>
              </a:rPr>
              <a:t>  - source:</a:t>
            </a:r>
          </a:p>
          <a:p>
            <a:r>
              <a:rPr lang="en-US" sz="1250">
                <a:solidFill>
                  <a:srgbClr val="CADCFC"/>
                </a:solidFill>
                <a:latin typeface="Consolas"/>
              </a:rPr>
              <a:t>      principals:</a:t>
            </a:r>
          </a:p>
          <a:p>
            <a:r>
              <a:rPr lang="en-US" sz="1250">
                <a:solidFill>
                  <a:srgbClr val="CADCFC"/>
                </a:solidFill>
                <a:latin typeface="Consolas"/>
              </a:rPr>
              <a:t>      - ".../sa/api-gateway"   # which service</a:t>
            </a:r>
          </a:p>
          <a:p>
            <a:r>
              <a:rPr lang="en-US" sz="1250">
                <a:solidFill>
                  <a:srgbClr val="CADCFC"/>
                </a:solidFill>
                <a:latin typeface="Consolas"/>
              </a:rPr>
              <a:t>      requestPrincipals: ["*"]  # valid JWT</a:t>
            </a:r>
          </a:p>
          <a:p>
            <a:r>
              <a:rPr lang="en-US" sz="1250">
                <a:solidFill>
                  <a:srgbClr val="CADCFC"/>
                </a:solidFill>
                <a:latin typeface="Consolas"/>
              </a:rPr>
              <a:t>  to:</a:t>
            </a:r>
          </a:p>
          <a:p>
            <a:r>
              <a:rPr lang="en-US" sz="1250">
                <a:solidFill>
                  <a:srgbClr val="CADCFC"/>
                </a:solidFill>
                <a:latin typeface="Consolas"/>
              </a:rPr>
              <a:t>  - operation:</a:t>
            </a:r>
          </a:p>
          <a:p>
            <a:r>
              <a:rPr lang="en-US" sz="1250">
                <a:solidFill>
                  <a:srgbClr val="CADCFC"/>
                </a:solidFill>
                <a:latin typeface="Consolas"/>
              </a:rPr>
              <a:t>      methods: [POST, PUT, DELETE]</a:t>
            </a:r>
          </a:p>
          <a:p>
            <a:r>
              <a:rPr lang="en-US" sz="1250">
                <a:solidFill>
                  <a:srgbClr val="CADCFC"/>
                </a:solidFill>
                <a:latin typeface="Consolas"/>
              </a:rPr>
              <a:t>  when:</a:t>
            </a:r>
          </a:p>
          <a:p>
            <a:r>
              <a:rPr lang="en-US" sz="1250">
                <a:solidFill>
                  <a:srgbClr val="CADCFC"/>
                </a:solidFill>
                <a:latin typeface="Consolas"/>
              </a:rPr>
              <a:t>  - key: request.auth.claims[roles]</a:t>
            </a:r>
          </a:p>
          <a:p>
            <a:r>
              <a:rPr lang="en-US" sz="1250">
                <a:solidFill>
                  <a:srgbClr val="CADCFC"/>
                </a:solidFill>
                <a:latin typeface="Consolas"/>
              </a:rPr>
              <a:t>    values: ["ROLE_FLEET_ADMIN"]  # which role</a:t>
            </a:r>
          </a:p>
        </p:txBody>
      </p:sp>
      <p:sp>
        <p:nvSpPr>
          <p:cNvPr name="AutoShape 7" id="7"/>
          <p:cNvSpPr/>
          <p:nvPr/>
        </p:nvSpPr>
        <p:spPr>
          <a:xfrm>
            <a:off x="7810500" y="1803400"/>
            <a:ext cx="3746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</p:spPr>
      </p:sp>
      <p:sp>
        <p:nvSpPr>
          <p:cNvPr name="TextBox 8" id="8"/>
          <p:cNvSpPr txBox="true"/>
          <p:nvPr/>
        </p:nvSpPr>
        <p:spPr>
          <a:xfrm>
            <a:off x="8013700" y="1981200"/>
            <a:ext cx="3365500" cy="2794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500" b="true">
                <a:solidFill>
                  <a:srgbClr val="EB0A1E"/>
                </a:solidFill>
                <a:latin typeface="Calibri"/>
              </a:rPr>
              <a:t>Three dimensions, one rule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8013700" y="2362200"/>
            <a:ext cx="3365500" cy="3098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indent="-177800" marL="177800"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principals → service identity (mTLS)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requestPrincipals → authenticated user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when claims → role-based access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No match on any → 403 RBAC denied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300">
                <a:solidFill>
                  <a:srgbClr val="22262E"/>
                </a:solidFill>
                <a:latin typeface="Calibri"/>
              </a:rPr>
              <a:t>Reads allowed for any authed caller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35000" y="558800"/>
            <a:ext cx="381000" cy="381000"/>
          </a:xfrm>
          <a:prstGeom prst="ellipse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500" b="true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168400" y="584200"/>
            <a:ext cx="10287000" cy="508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2700" b="true">
                <a:solidFill>
                  <a:srgbClr val="1E2761"/>
                </a:solidFill>
                <a:latin typeface="Calibri"/>
              </a:rPr>
              <a:t>AWS Services &amp; Rationale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168400" y="1066800"/>
            <a:ext cx="102870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00" b="false">
                <a:solidFill>
                  <a:srgbClr val="646B7A"/>
                </a:solidFill>
                <a:latin typeface="Calibri"/>
              </a:rPr>
              <a:t/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35000" y="1498600"/>
          <a:ext cx="0" cy="0"/>
        </p:xfrm>
        <a:graphic>
          <a:graphicData uri="http://schemas.openxmlformats.org/drawingml/2006/table">
            <a:tbl>
              <a:tblPr/>
              <a:tblGrid>
                <a:gridCol w="2794000"/>
                <a:gridCol w="3810000"/>
                <a:gridCol w="4318000"/>
              </a:tblGrid>
              <a:tr h="53975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300" b="true">
                          <a:solidFill>
                            <a:srgbClr val="FFFFFF"/>
                          </a:solidFill>
                          <a:latin typeface="Calibri"/>
                        </a:rPr>
                        <a:t>Concern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300" b="true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300" b="true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975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true">
                          <a:solidFill>
                            <a:srgbClr val="22262E"/>
                          </a:solidFill>
                          <a:latin typeface="Calibri"/>
                        </a:rPr>
                        <a:t>Orchestration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Amazon EKS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Managed K8s + Istio + IRSA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true">
                          <a:solidFill>
                            <a:srgbClr val="22262E"/>
                          </a:solidFill>
                          <a:latin typeface="Calibri"/>
                        </a:rPr>
                        <a:t>Event backbone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Amazon MSK (Kafka)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Durable, replayable, high-throughput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3975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true">
                          <a:solidFill>
                            <a:srgbClr val="22262E"/>
                          </a:solidFill>
                          <a:latin typeface="Calibri"/>
                        </a:rPr>
                        <a:t>Relational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RDS / Aurora PostgreSQL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ACID for identity &amp; registration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true">
                          <a:solidFill>
                            <a:srgbClr val="22262E"/>
                          </a:solidFill>
                          <a:latin typeface="Calibri"/>
                        </a:rPr>
                        <a:t>Time-series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Amazon Timestream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Purpose-built telemetry store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3975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true">
                          <a:solidFill>
                            <a:srgbClr val="22262E"/>
                          </a:solidFill>
                          <a:latin typeface="Calibri"/>
                        </a:rPr>
                        <a:t>Cache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ElastiCache Redis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Dedup, rate limits, hot state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true">
                          <a:solidFill>
                            <a:srgbClr val="22262E"/>
                          </a:solidFill>
                          <a:latin typeface="Calibri"/>
                        </a:rPr>
                        <a:t>Device connectivity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AWS IoT Core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Millions of MQTT devices, X.509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3975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true">
                          <a:solidFill>
                            <a:srgbClr val="22262E"/>
                          </a:solidFill>
                          <a:latin typeface="Calibri"/>
                        </a:rPr>
                        <a:t>Secrets / IaC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Secrets Manager · Terraform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22262E"/>
                          </a:solidFill>
                          <a:latin typeface="Calibri"/>
                        </a:rPr>
                        <a:t>Rotation, no secrets in Git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35000" y="558800"/>
            <a:ext cx="381000" cy="381000"/>
          </a:xfrm>
          <a:prstGeom prst="ellipse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500" b="true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168400" y="584200"/>
            <a:ext cx="10287000" cy="508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2700" b="true">
                <a:solidFill>
                  <a:srgbClr val="1E2761"/>
                </a:solidFill>
                <a:latin typeface="Calibri"/>
              </a:rPr>
              <a:t>AWS Well-Architected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168400" y="1066800"/>
            <a:ext cx="102870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00" b="false">
                <a:solidFill>
                  <a:srgbClr val="646B7A"/>
                </a:solidFill>
                <a:latin typeface="Calibri"/>
              </a:rPr>
              <a:t/>
            </a:r>
          </a:p>
        </p:txBody>
      </p:sp>
      <p:sp>
        <p:nvSpPr>
          <p:cNvPr name="AutoShape 5" id="5"/>
          <p:cNvSpPr/>
          <p:nvPr/>
        </p:nvSpPr>
        <p:spPr>
          <a:xfrm>
            <a:off x="635000" y="1524000"/>
            <a:ext cx="36576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838200" y="1727200"/>
            <a:ext cx="381000" cy="381000"/>
          </a:xfrm>
          <a:prstGeom prst="ellipse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500" b="true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838200" y="2209800"/>
            <a:ext cx="3276600" cy="558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550" b="true">
                <a:solidFill>
                  <a:srgbClr val="1E2761"/>
                </a:solidFill>
                <a:latin typeface="Calibri"/>
              </a:rPr>
              <a:t>Operational Excellence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838200" y="2768600"/>
            <a:ext cx="3276600" cy="558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50" b="false">
                <a:solidFill>
                  <a:srgbClr val="22262E"/>
                </a:solidFill>
                <a:latin typeface="Calibri"/>
              </a:rPr>
              <a:t>GitOps (Argo CD), IaC, runbooks, dashboards</a:t>
            </a:r>
          </a:p>
        </p:txBody>
      </p:sp>
      <p:sp>
        <p:nvSpPr>
          <p:cNvPr name="AutoShape 9" id="9"/>
          <p:cNvSpPr/>
          <p:nvPr/>
        </p:nvSpPr>
        <p:spPr>
          <a:xfrm>
            <a:off x="4394200" y="1524000"/>
            <a:ext cx="36576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4597400" y="1727200"/>
            <a:ext cx="381000" cy="381000"/>
          </a:xfrm>
          <a:prstGeom prst="ellipse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500" b="true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597400" y="2209800"/>
            <a:ext cx="3276600" cy="558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550" b="true">
                <a:solidFill>
                  <a:srgbClr val="1E2761"/>
                </a:solidFill>
                <a:latin typeface="Calibri"/>
              </a:rPr>
              <a:t>Security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597400" y="2768600"/>
            <a:ext cx="3276600" cy="558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50" b="false">
                <a:solidFill>
                  <a:srgbClr val="22262E"/>
                </a:solidFill>
                <a:latin typeface="Calibri"/>
              </a:rPr>
              <a:t>STRICT mTLS, least-privilege IAM/RBAC, WAF, KMS</a:t>
            </a:r>
          </a:p>
        </p:txBody>
      </p:sp>
      <p:sp>
        <p:nvSpPr>
          <p:cNvPr name="AutoShape 13" id="13"/>
          <p:cNvSpPr/>
          <p:nvPr/>
        </p:nvSpPr>
        <p:spPr>
          <a:xfrm>
            <a:off x="8153400" y="1524000"/>
            <a:ext cx="36576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8356600" y="1727200"/>
            <a:ext cx="381000" cy="381000"/>
          </a:xfrm>
          <a:prstGeom prst="ellipse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500" b="true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8356600" y="2209800"/>
            <a:ext cx="3276600" cy="558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550" b="true">
                <a:solidFill>
                  <a:srgbClr val="1E2761"/>
                </a:solidFill>
                <a:latin typeface="Calibri"/>
              </a:rPr>
              <a:t>Reliability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8356600" y="2768600"/>
            <a:ext cx="3276600" cy="558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50" b="false">
                <a:solidFill>
                  <a:srgbClr val="22262E"/>
                </a:solidFill>
                <a:latin typeface="Calibri"/>
              </a:rPr>
              <a:t>Multi-AZ, autoscaling, retries, Kafka durability, DR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35000" y="3581400"/>
            <a:ext cx="36576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</p:spPr>
      </p:sp>
      <p:sp>
        <p:nvSpPr>
          <p:cNvPr name="AutoShape 18" id="18"/>
          <p:cNvSpPr/>
          <p:nvPr/>
        </p:nvSpPr>
        <p:spPr>
          <a:xfrm>
            <a:off x="838200" y="3784600"/>
            <a:ext cx="381000" cy="381000"/>
          </a:xfrm>
          <a:prstGeom prst="ellipse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500" b="true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838200" y="4267200"/>
            <a:ext cx="3276600" cy="558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550" b="true">
                <a:solidFill>
                  <a:srgbClr val="1E2761"/>
                </a:solidFill>
                <a:latin typeface="Calibri"/>
              </a:rPr>
              <a:t>Performance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838200" y="4826000"/>
            <a:ext cx="3276600" cy="558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50" b="false">
                <a:solidFill>
                  <a:srgbClr val="22262E"/>
                </a:solidFill>
                <a:latin typeface="Calibri"/>
              </a:rPr>
              <a:t>Kafka parallelism, caching, Graviton, right-sizing</a:t>
            </a:r>
          </a:p>
        </p:txBody>
      </p:sp>
      <p:sp>
        <p:nvSpPr>
          <p:cNvPr name="AutoShape 21" id="21"/>
          <p:cNvSpPr/>
          <p:nvPr/>
        </p:nvSpPr>
        <p:spPr>
          <a:xfrm>
            <a:off x="4394200" y="3581400"/>
            <a:ext cx="36576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</p:spPr>
      </p:sp>
      <p:sp>
        <p:nvSpPr>
          <p:cNvPr name="AutoShape 22" id="22"/>
          <p:cNvSpPr/>
          <p:nvPr/>
        </p:nvSpPr>
        <p:spPr>
          <a:xfrm>
            <a:off x="4597400" y="3784600"/>
            <a:ext cx="381000" cy="381000"/>
          </a:xfrm>
          <a:prstGeom prst="ellipse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500" b="true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4597400" y="4267200"/>
            <a:ext cx="3276600" cy="558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550" b="true">
                <a:solidFill>
                  <a:srgbClr val="1E2761"/>
                </a:solidFill>
                <a:latin typeface="Calibri"/>
              </a:rPr>
              <a:t>Cost Optimization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4597400" y="4826000"/>
            <a:ext cx="3276600" cy="558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50" b="false">
                <a:solidFill>
                  <a:srgbClr val="22262E"/>
                </a:solidFill>
                <a:latin typeface="Calibri"/>
              </a:rPr>
              <a:t>Graviton + Spot, S3 tiering, scale-to-zero non-prod</a:t>
            </a:r>
          </a:p>
        </p:txBody>
      </p:sp>
      <p:sp>
        <p:nvSpPr>
          <p:cNvPr name="AutoShape 25" id="25"/>
          <p:cNvSpPr/>
          <p:nvPr/>
        </p:nvSpPr>
        <p:spPr>
          <a:xfrm>
            <a:off x="8153400" y="3581400"/>
            <a:ext cx="36576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</p:spPr>
      </p:sp>
      <p:sp>
        <p:nvSpPr>
          <p:cNvPr name="AutoShape 26" id="26"/>
          <p:cNvSpPr/>
          <p:nvPr/>
        </p:nvSpPr>
        <p:spPr>
          <a:xfrm>
            <a:off x="8356600" y="3784600"/>
            <a:ext cx="381000" cy="381000"/>
          </a:xfrm>
          <a:prstGeom prst="ellipse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500" b="true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8356600" y="4267200"/>
            <a:ext cx="3276600" cy="558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550" b="true">
                <a:solidFill>
                  <a:srgbClr val="1E2761"/>
                </a:solidFill>
                <a:latin typeface="Calibri"/>
              </a:rPr>
              <a:t>Sustainability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8356600" y="4826000"/>
            <a:ext cx="3276600" cy="558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50" b="false">
                <a:solidFill>
                  <a:srgbClr val="22262E"/>
                </a:solidFill>
                <a:latin typeface="Calibri"/>
              </a:rPr>
              <a:t>ARM Graviton, spot, data lifecycle policies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35000" y="558800"/>
            <a:ext cx="381000" cy="381000"/>
          </a:xfrm>
          <a:prstGeom prst="ellipse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500" b="true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168400" y="584200"/>
            <a:ext cx="10287000" cy="508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2700" b="true">
                <a:solidFill>
                  <a:srgbClr val="1E2761"/>
                </a:solidFill>
                <a:latin typeface="Calibri"/>
              </a:rPr>
              <a:t>Scaling &amp; Resilience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168400" y="1066800"/>
            <a:ext cx="10287000" cy="25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200" b="false">
                <a:solidFill>
                  <a:srgbClr val="646B7A"/>
                </a:solidFill>
                <a:latin typeface="Calibri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635000" y="1651000"/>
            <a:ext cx="6858000" cy="4064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indent="-177800" marL="177800">
              <a:buFont typeface="Arial"/>
              <a:buChar char="•"/>
            </a:pPr>
            <a:r>
              <a:rPr lang="en-US" sz="1500">
                <a:solidFill>
                  <a:srgbClr val="22262E"/>
                </a:solidFill>
                <a:latin typeface="Calibri"/>
              </a:rPr>
              <a:t>Pods scale via HPA / KEDA on Kafka consumer lag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500">
                <a:solidFill>
                  <a:srgbClr val="22262E"/>
                </a:solidFill>
                <a:latin typeface="Calibri"/>
              </a:rPr>
              <a:t>Nodes scale via Karpenter — mixed Spot/On-Demand Graviton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500">
                <a:solidFill>
                  <a:srgbClr val="22262E"/>
                </a:solidFill>
                <a:latin typeface="Calibri"/>
              </a:rPr>
              <a:t>Kafka absorbs bursts; producers never block on downstream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500">
                <a:solidFill>
                  <a:srgbClr val="22262E"/>
                </a:solidFill>
                <a:latin typeface="Calibri"/>
              </a:rPr>
              <a:t>Istio retries + outlier detection = circuit breaking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500">
                <a:solidFill>
                  <a:srgbClr val="22262E"/>
                </a:solidFill>
                <a:latin typeface="Calibri"/>
              </a:rPr>
              <a:t>Multi-AZ node groups + RDS Multi-AZ + MSK RF=3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500">
                <a:solidFill>
                  <a:srgbClr val="22262E"/>
                </a:solidFill>
                <a:latin typeface="Calibri"/>
              </a:rPr>
              <a:t>DR: pilot-light — cross-region S3/RDS replication + Route 53 failover</a:t>
            </a:r>
          </a:p>
        </p:txBody>
      </p:sp>
      <p:sp>
        <p:nvSpPr>
          <p:cNvPr name="AutoShape 6" id="6"/>
          <p:cNvSpPr/>
          <p:nvPr/>
        </p:nvSpPr>
        <p:spPr>
          <a:xfrm>
            <a:off x="8001000" y="1651000"/>
            <a:ext cx="3556000" cy="1219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name="TextBox 7" id="7"/>
          <p:cNvSpPr txBox="true"/>
          <p:nvPr/>
        </p:nvSpPr>
        <p:spPr>
          <a:xfrm>
            <a:off x="8229600" y="1879600"/>
            <a:ext cx="3098800" cy="7112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4000" b="true">
                <a:solidFill>
                  <a:srgbClr val="FFFFFF"/>
                </a:solidFill>
                <a:latin typeface="Calibri"/>
              </a:rPr>
              <a:t>3 → 20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8255000" y="2590800"/>
            <a:ext cx="3098800" cy="304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CADCFC"/>
                </a:solidFill>
                <a:latin typeface="Calibri"/>
              </a:rPr>
              <a:t>telemetry pods (autoscaled)</a:t>
            </a:r>
          </a:p>
        </p:txBody>
      </p:sp>
      <p:sp>
        <p:nvSpPr>
          <p:cNvPr name="AutoShape 9" id="9"/>
          <p:cNvSpPr/>
          <p:nvPr/>
        </p:nvSpPr>
        <p:spPr>
          <a:xfrm>
            <a:off x="8001000" y="3048000"/>
            <a:ext cx="3556000" cy="1219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name="TextBox 10" id="10"/>
          <p:cNvSpPr txBox="true"/>
          <p:nvPr/>
        </p:nvSpPr>
        <p:spPr>
          <a:xfrm>
            <a:off x="8229600" y="3276600"/>
            <a:ext cx="3098800" cy="7112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4000" b="true">
                <a:solidFill>
                  <a:srgbClr val="FFFFFF"/>
                </a:solidFill>
                <a:latin typeface="Calibri"/>
              </a:rPr>
              <a:t>RF = 3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8255000" y="3987800"/>
            <a:ext cx="3098800" cy="304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CADCFC"/>
                </a:solidFill>
                <a:latin typeface="Calibri"/>
              </a:rPr>
              <a:t>Kafka replication factor</a:t>
            </a:r>
          </a:p>
        </p:txBody>
      </p:sp>
      <p:sp>
        <p:nvSpPr>
          <p:cNvPr name="AutoShape 12" id="12"/>
          <p:cNvSpPr/>
          <p:nvPr/>
        </p:nvSpPr>
        <p:spPr>
          <a:xfrm>
            <a:off x="8001000" y="4445000"/>
            <a:ext cx="3556000" cy="1219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name="TextBox 13" id="13"/>
          <p:cNvSpPr txBox="true"/>
          <p:nvPr/>
        </p:nvSpPr>
        <p:spPr>
          <a:xfrm>
            <a:off x="8229600" y="4673600"/>
            <a:ext cx="3098800" cy="7112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4000" b="true">
                <a:solidFill>
                  <a:srgbClr val="FFFFFF"/>
                </a:solidFill>
                <a:latin typeface="Calibri"/>
              </a:rPr>
              <a:t>Multi-AZ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8255000" y="5384800"/>
            <a:ext cx="3098800" cy="304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CADCFC"/>
                </a:solidFill>
                <a:latin typeface="Calibri"/>
              </a:rPr>
              <a:t>data + compute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35000" y="558800"/>
            <a:ext cx="381000" cy="381000"/>
          </a:xfrm>
          <a:prstGeom prst="ellipse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500" b="true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168400" y="584200"/>
            <a:ext cx="10287000" cy="508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2700" b="true">
                <a:solidFill>
                  <a:srgbClr val="FFFFFF"/>
                </a:solidFill>
                <a:latin typeface="Calibri"/>
              </a:rPr>
              <a:t>Key Trade-offs (volunteer these)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35000" y="1524000"/>
          <a:ext cx="0" cy="0"/>
        </p:xfrm>
        <a:graphic>
          <a:graphicData uri="http://schemas.openxmlformats.org/drawingml/2006/table">
            <a:tbl>
              <a:tblPr/>
              <a:tblGrid>
                <a:gridCol w="2921000"/>
                <a:gridCol w="4318000"/>
                <a:gridCol w="3683000"/>
              </a:tblGrid>
              <a:tr h="762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300" b="true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A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300" b="true">
                          <a:solidFill>
                            <a:srgbClr val="FFFFFF"/>
                          </a:solidFill>
                          <a:latin typeface="Calibri"/>
                        </a:rPr>
                        <a:t>Benefit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A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300" b="true">
                          <a:solidFill>
                            <a:srgbClr val="FFFFFF"/>
                          </a:solidFill>
                          <a:latin typeface="Calibri"/>
                        </a:rPr>
                        <a:t>Cost / mitigation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A1E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true">
                          <a:solidFill>
                            <a:srgbClr val="CADCFC"/>
                          </a:solidFill>
                          <a:latin typeface="Calibri"/>
                        </a:rPr>
                        <a:t>Istio service mesh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CADCFC"/>
                          </a:solidFill>
                          <a:latin typeface="Calibri"/>
                        </a:rPr>
                        <a:t>Uniform mTLS, authz, observability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CADCFC"/>
                          </a:solidFill>
                          <a:latin typeface="Calibri"/>
                        </a:rPr>
                        <a:t>~1-2ms/hop; evaluate ambient mode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74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true">
                          <a:solidFill>
                            <a:srgbClr val="CADCFC"/>
                          </a:solidFill>
                          <a:latin typeface="Calibri"/>
                        </a:rPr>
                        <a:t>EKS over Lambda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CADCFC"/>
                          </a:solidFill>
                          <a:latin typeface="Calibri"/>
                        </a:rPr>
                        <a:t>Mesh + long-lived stream consumers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CADCFC"/>
                          </a:solidFill>
                          <a:latin typeface="Calibri"/>
                        </a:rPr>
                        <a:t>More ops; Lambda for edge glue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82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true">
                          <a:solidFill>
                            <a:srgbClr val="CADCFC"/>
                          </a:solidFill>
                          <a:latin typeface="Calibri"/>
                        </a:rPr>
                        <a:t>MSK over Kinesis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CADCFC"/>
                          </a:solidFill>
                          <a:latin typeface="Calibri"/>
                        </a:rPr>
                        <a:t>Replay, Kafka ecosystem, throughput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CADCFC"/>
                          </a:solidFill>
                          <a:latin typeface="Calibri"/>
                        </a:rPr>
                        <a:t>Broker ops; MSK Serverless option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74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true">
                          <a:solidFill>
                            <a:srgbClr val="CADCFC"/>
                          </a:solidFill>
                          <a:latin typeface="Calibri"/>
                        </a:rPr>
                        <a:t>Graviton + Spot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CADCFC"/>
                          </a:solidFill>
                          <a:latin typeface="Calibri"/>
                        </a:rPr>
                        <a:t>~20-40% cost savings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250" b="false">
                          <a:solidFill>
                            <a:srgbClr val="CADCFC"/>
                          </a:solidFill>
                          <a:latin typeface="Calibri"/>
                        </a:rPr>
                        <a:t>Spot interruptions; PDBs + drain</a:t>
                      </a:r>
                      <a:endParaRPr lang="en-US" sz="1100"/>
                    </a:p>
                  </a:txBody>
                  <a:tcPr anchor="ctr" marL="101600" marR="76200" marT="38100" marB="38100">
                    <a:lnL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8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35000" y="889000"/>
            <a:ext cx="1905000" cy="406400"/>
          </a:xfrm>
          <a:prstGeom prst="roundRect">
            <a:avLst/>
          </a:prstGeom>
          <a:solidFill>
            <a:srgbClr val="EB0A1E"/>
          </a:solidFill>
          <a:ln>
            <a:noFill/>
          </a:ln>
        </p:spPr>
        <p:txBody>
          <a:bodyPr anchor="ctr"/>
          <a:p>
            <a:pPr algn="ctr"/>
            <a:r>
              <a:rPr lang="en-US"/>
              <a:t/>
            </a:r>
            <a:r>
              <a:rPr lang="en-US" sz="1200" b="true">
                <a:solidFill>
                  <a:srgbClr val="FFFFFF"/>
                </a:solidFill>
                <a:latin typeface="Calibri"/>
              </a:rPr>
              <a:t>IN ONE BREATH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651000"/>
            <a:ext cx="10922000" cy="508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3400" b="true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35000" y="2540000"/>
            <a:ext cx="10922000" cy="33020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indent="-177800" marL="177800">
              <a:buFont typeface="Arial"/>
              <a:buChar char="•"/>
            </a:pPr>
            <a:r>
              <a:rPr lang="en-US" sz="1550">
                <a:solidFill>
                  <a:srgbClr val="CADCFC"/>
                </a:solidFill>
                <a:latin typeface="Calibri"/>
              </a:rPr>
              <a:t>Event-driven telemetry platform on EKS + Istio, provisioned with Terraform.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550">
                <a:solidFill>
                  <a:srgbClr val="CADCFC"/>
                </a:solidFill>
                <a:latin typeface="Calibri"/>
              </a:rPr>
              <a:t>Service-to-service: STRICT mTLS with SPIFFE identity from ServiceAccounts — zero app code.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550">
                <a:solidFill>
                  <a:srgbClr val="CADCFC"/>
                </a:solidFill>
                <a:latin typeface="Calibri"/>
              </a:rPr>
              <a:t>Authorization: K8s RBAC on the API server + Istio AuthorizationPolicy (service identity + JWT role) on traffic, default-deny.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550">
                <a:solidFill>
                  <a:srgbClr val="CADCFC"/>
                </a:solidFill>
                <a:latin typeface="Calibri"/>
              </a:rPr>
              <a:t>Kafka decouples and buffers ingest; purpose-built stores per data shape.</a:t>
            </a:r>
          </a:p>
          <a:p>
            <a:pPr indent="-177800" marL="177800">
              <a:spcBef>
                <a:spcPct val="6000"/>
              </a:spcBef>
              <a:buFont typeface="Arial"/>
              <a:buChar char="•"/>
            </a:pPr>
            <a:r>
              <a:rPr lang="en-US" sz="1550">
                <a:solidFill>
                  <a:srgbClr val="CADCFC"/>
                </a:solidFill>
                <a:latin typeface="Calibri"/>
              </a:rPr>
              <a:t>Mapped to Well-Architected; trade-offs volunteered; results quantified (STAR).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635000" y="6172200"/>
            <a:ext cx="10922000" cy="304800"/>
          </a:xfrm>
          <a:prstGeom prst="rect">
            <a:avLst/>
          </a:prstGeom>
        </p:spPr>
        <p:txBody>
          <a:bodyPr anchor="t" rtlCol="false" lIns="0" rIns="0" tIns="0" bIns="0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CADCFC"/>
                </a:solidFill>
                <a:latin typeface="Calibri"/>
              </a:rPr>
              <a:t>Questions welcome — mesh security · scaling model · DR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